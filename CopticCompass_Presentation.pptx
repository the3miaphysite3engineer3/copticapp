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D1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886200" y="594360"/>
            <a:ext cx="1371600" cy="1371600"/>
          </a:xfrm>
          <a:prstGeom prst="ellipse">
            <a:avLst/>
          </a:prstGeom>
          <a:solidFill>
            <a:srgbClr val="C08329">
              <a:alpha val="18039"/>
            </a:srgbClr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886200" y="5943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Ⲭ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Coptic Compass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كوبتيك كومباس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41071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 Trusted Digital Coptology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7673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منصة رقمية موثوقة لعلوم اللغة القبطية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Built by Copts for Copts  |  بُنيت من الأقباط للأقباط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74320" y="22860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What is Coptic Compass?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474720" y="22860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ما هو كوبتيك كومباس؟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Coptic Compass is a complete digital home for Coptology — uniting: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74320" y="1554480"/>
            <a:ext cx="384048" cy="384048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74320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7240" y="15544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77240" y="176479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6,400+ verified entries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474720" y="160020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قاموس قبطي قابل للبحث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74320" y="2157984"/>
            <a:ext cx="384048" cy="384048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74320" y="21579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" y="215798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Grammar Lessons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77240" y="236829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Interactive study &amp; exercises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474720" y="2203704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دروس نحوية تفاعلية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4320" y="2761488"/>
            <a:ext cx="384048" cy="384048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74320" y="2761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77240" y="276148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Shenute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40" y="297180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AI-powered Coptic assistant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474720" y="280720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شنودة للذكاء الاصطناعي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74320" y="3364992"/>
            <a:ext cx="384048" cy="384048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74320" y="3364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77240" y="33649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Publications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77240" y="357530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Books &amp; scholarly resources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474720" y="3410712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المنشورات الأكاديمية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3968496"/>
            <a:ext cx="384048" cy="384048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74320" y="39684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77240" y="396849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Public APIs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77240" y="417880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For developers &amp; educators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474720" y="4014216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واجهات برمجية مفتوحة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675120" y="822960"/>
            <a:ext cx="2194560" cy="3474720"/>
          </a:xfrm>
          <a:prstGeom prst="rect">
            <a:avLst/>
          </a:prstGeom>
          <a:solidFill>
            <a:srgbClr val="1E1D1D"/>
          </a:solidFill>
          <a:ln cap="flat" cmpd="sng" w="254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675120" y="118872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9600"/>
              <a:buFont typeface="Georgia"/>
              <a:buNone/>
            </a:pPr>
            <a:r>
              <a:rPr b="0" i="0" lang="en-US" sz="96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Ⲭ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675120" y="23774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Ⲭⲏⲙⲓ · Ⲭⲣⲓⲥⲧⲟⲥ · Ⲭⲁⲧⲏⲣ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675120" y="2788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Egypt · Christ · Compass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675120" y="30906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مصر · المسيح · البوصلة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www.copticcompass.com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1D1D"/>
          </a:solidFill>
          <a:ln cap="flat" cmpd="sng" w="12700">
            <a:solidFill>
              <a:srgbClr val="1E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0" y="1143000"/>
            <a:ext cx="914400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914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Coptic Dictionary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00400" y="914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القاموس القبطي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A lightning-fast digital lexicon for students, clergy &amp; scholars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20040" y="1371600"/>
            <a:ext cx="2560320" cy="1371600"/>
          </a:xfrm>
          <a:prstGeom prst="rect">
            <a:avLst/>
          </a:prstGeom>
          <a:solidFill>
            <a:srgbClr val="1E1D1D"/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20040" y="1417320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6,400+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" y="21031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Verified Entries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20040" y="23774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إدخالات موثقة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0" y="1371600"/>
            <a:ext cx="2560320" cy="1371600"/>
          </a:xfrm>
          <a:prstGeom prst="rect">
            <a:avLst/>
          </a:prstGeom>
          <a:solidFill>
            <a:srgbClr val="1E1D1D"/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200400" y="1417320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200400" y="21031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Dialects Covered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0" y="23774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لهجات مغطاة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080760" y="1371600"/>
            <a:ext cx="2560320" cy="1371600"/>
          </a:xfrm>
          <a:prstGeom prst="rect">
            <a:avLst/>
          </a:prstGeom>
          <a:solidFill>
            <a:srgbClr val="1E1D1D"/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080760" y="1417320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80760" y="21031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Search Languages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080760" y="23774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EN · AR · 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040" y="29260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Key Features  |  المزايا الرئيسية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20040" y="3392424"/>
            <a:ext cx="164592" cy="16459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94360" y="3337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Coptic, English &amp; Greek lookup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0" y="33375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بحث بالقبطية والإنجليزية واليونانية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20040" y="3721608"/>
            <a:ext cx="164592" cy="16459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94360" y="36667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Dialect forms &amp; canonical entry pages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0" y="366674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أشكال اللهجات والمداخل المعيارية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0040" y="4050792"/>
            <a:ext cx="164592" cy="16459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94360" y="39959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Built-in virtual Coptic keyboard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0" y="399592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لوحة مفاتيح قبطية افتراضية مدمجة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20040" y="4379976"/>
            <a:ext cx="164592" cy="16459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94360" y="43251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Linked directly to grammar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0" y="432511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مرتبط مباشرةً بالمفاهيم النحوية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20040" y="4709160"/>
            <a:ext cx="164592" cy="16459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94360" y="46542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Freely accessible — no login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0" y="465429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متاح مجاناً — لا يلزم تسجيل الدخول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0" y="1143000"/>
            <a:ext cx="914400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65760" y="914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Coptic Grammar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200400" y="914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النحو القبطي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65760" y="66751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FFD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DDFFDD"/>
                </a:solidFill>
                <a:latin typeface="Calibri"/>
                <a:ea typeface="Calibri"/>
                <a:cs typeface="Calibri"/>
                <a:sym typeface="Calibri"/>
              </a:rPr>
              <a:t>Structured lessons from beginner to advanced — linked to the dictionary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74320" y="1371600"/>
            <a:ext cx="4160520" cy="35661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274320" y="1371600"/>
            <a:ext cx="4160520" cy="530352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11480" y="14173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Language Learners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11480" y="1691640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لمتعلمي اللغة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11480" y="2011680"/>
            <a:ext cx="64008" cy="402336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66928" y="202996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Reading mode with Coptic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66928" y="226771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قراءة النصوص القبطية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11480" y="2743200"/>
            <a:ext cx="64008" cy="402336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66928" y="276148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Study mode with exercises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66928" y="299923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التمارين والاختبارات التفاعلية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11480" y="3474720"/>
            <a:ext cx="64008" cy="402336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66928" y="349300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Footnotes &amp; concept glossaries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66928" y="373075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الحواشي والمصطلحات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11480" y="4206240"/>
            <a:ext cx="64008" cy="402336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66928" y="422452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Progress tracking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66928" y="446227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لوحة تتبع التقدم الشخصي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709160" y="1371600"/>
            <a:ext cx="4160520" cy="35661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709160" y="1371600"/>
            <a:ext cx="4160520" cy="5303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846320" y="14173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Church Servants &amp; Clergy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46320" y="1691640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للخدام والكهنة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846320" y="2011680"/>
            <a:ext cx="64008" cy="402336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001768" y="202996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Liturgical vocabulary in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01768" y="226771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المفردات الليتورجية في سياقها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46320" y="2743200"/>
            <a:ext cx="64008" cy="402336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001768" y="276148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Links to dictionary entries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001768" y="299923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روابط للقاموس المرجعي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846320" y="3474720"/>
            <a:ext cx="64008" cy="402336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001768" y="349300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Grammar behind the prayers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001768" y="373075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القواعد النحوية وراء الصلوات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846320" y="4206240"/>
            <a:ext cx="64008" cy="402336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001768" y="422452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Instructor review workflows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001768" y="446227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مسار مراجعة المدرب للطلاب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D1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Shenute AI  —  شنودة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 Coptic Study Assistant powered by THOTH AI · RAG · pgvector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مساعد ذكاء اصطناعي لدراسة اللغة القبطية وتراثها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74320" y="1508760"/>
            <a:ext cx="2697480" cy="3200400"/>
          </a:xfrm>
          <a:prstGeom prst="rect">
            <a:avLst/>
          </a:prstGeom>
          <a:solidFill>
            <a:srgbClr val="262626"/>
          </a:solidFill>
          <a:ln cap="flat" cmpd="sng" w="15225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280160" y="1691640"/>
            <a:ext cx="685800" cy="685800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280160" y="16916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4048" y="2496312"/>
            <a:ext cx="2478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OCR Image Prompts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84048" y="2907792"/>
            <a:ext cx="2478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تحليل صور المخطوطات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84048" y="3273552"/>
            <a:ext cx="2478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Upload a manuscript image and ask questions about the Coptic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84048" y="3931920"/>
            <a:ext cx="2478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ارفع صورة مخطوطة واطرح أسئلة حول النص القبطي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154680" y="1508760"/>
            <a:ext cx="2697480" cy="3200400"/>
          </a:xfrm>
          <a:prstGeom prst="rect">
            <a:avLst/>
          </a:prstGeom>
          <a:solidFill>
            <a:srgbClr val="262626"/>
          </a:solidFill>
          <a:ln cap="flat" cmpd="sng" w="15225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160520" y="1691640"/>
            <a:ext cx="685800" cy="685800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160520" y="16916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64408" y="2496312"/>
            <a:ext cx="2478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Contextual Q&amp;A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64408" y="2907792"/>
            <a:ext cx="2478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أسئلة وأجوبة سياقية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264408" y="3273552"/>
            <a:ext cx="2478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Ask about grammar, vocabulary, liturgy, or Coptic heritage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264408" y="3931920"/>
            <a:ext cx="2478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اسأل عن النحو والمفردات والألحان والتراث القبطي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035040" y="1508760"/>
            <a:ext cx="2697480" cy="3200400"/>
          </a:xfrm>
          <a:prstGeom prst="rect">
            <a:avLst/>
          </a:prstGeom>
          <a:solidFill>
            <a:srgbClr val="262626"/>
          </a:solidFill>
          <a:ln cap="flat" cmpd="sng" w="15225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040880" y="1691640"/>
            <a:ext cx="685800" cy="685800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7040880" y="16916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144768" y="2496312"/>
            <a:ext cx="2478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RAG-backed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44768" y="2907792"/>
            <a:ext cx="2478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بحث بالذكاء الاصطناعي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144768" y="3273552"/>
            <a:ext cx="2478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Answers grounded in verified Coptic lexicons and scholarship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144768" y="3931920"/>
            <a:ext cx="2478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إجابات مستندة إلى القواميس والمصادر الأكاديمية الموثقة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Shenute AI is a study assistant — always verify answers with authoritative sources and your clergy  |  شنودة مساعد للدراسة — راجع دائماً المصادر الموثوقة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1D1D"/>
          </a:solidFill>
          <a:ln cap="flat" cmpd="sng" w="12700">
            <a:solidFill>
              <a:srgbClr val="1E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0" y="1143000"/>
            <a:ext cx="914400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65760" y="914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Publications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200400" y="91440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المنشورات الأكاديمية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5760" y="66751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Coptic Compass as publisher · Books, references &amp; scholarly works for the Coptic community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74320" y="1371600"/>
            <a:ext cx="26517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274320" y="1371600"/>
            <a:ext cx="265176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280160" y="1572768"/>
            <a:ext cx="658368" cy="658368"/>
          </a:xfrm>
          <a:prstGeom prst="ellipse">
            <a:avLst/>
          </a:prstGeom>
          <a:solidFill>
            <a:srgbClr val="C08329">
              <a:alpha val="85098"/>
            </a:srgbClr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280160" y="15727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65760" y="23317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Grammar References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65760" y="27249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المراجع النحوية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84048" y="3072384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Scholarly grammars and structured language guides for clergy preparing the liturgy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84048" y="3913632"/>
            <a:ext cx="24323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كتب نحو أكاديمية للكهنة المستعدين للليتورجيا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154680" y="1371600"/>
            <a:ext cx="26517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154680" y="1371600"/>
            <a:ext cx="265176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160520" y="1572768"/>
            <a:ext cx="658368" cy="658368"/>
          </a:xfrm>
          <a:prstGeom prst="ellipse">
            <a:avLst/>
          </a:prstGeom>
          <a:solidFill>
            <a:srgbClr val="C08329">
              <a:alpha val="85098"/>
            </a:srgbClr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160520" y="15727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246120" y="23317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Lexical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46120" y="27249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الأعمال المعجمية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64408" y="3072384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Dictionaries and vocabulary references for Sahidic, Bohairic &amp; other dialects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264408" y="3913632"/>
            <a:ext cx="24323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قواميس لهجات الصعيدية والبحيرية وغيرها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035040" y="1371600"/>
            <a:ext cx="26517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035040" y="1371600"/>
            <a:ext cx="265176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040880" y="1572768"/>
            <a:ext cx="658368" cy="658368"/>
          </a:xfrm>
          <a:prstGeom prst="ellipse">
            <a:avLst/>
          </a:prstGeom>
          <a:solidFill>
            <a:srgbClr val="C08329">
              <a:alpha val="85098"/>
            </a:srgbClr>
          </a:solidFill>
          <a:ln cap="flat" cmpd="sng" w="1905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040880" y="157276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126480" y="23317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Research Materials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126480" y="27249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المواد البحثية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144768" y="3072384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Publications for advanced students and linguists working in Coptology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144768" y="3913632"/>
            <a:ext cx="24323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منشورات للطلاب المتقدمين والباحثين في علم القبطيات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Browse the full catalog  ·  copticcompass.com/en/publications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0" y="1143000"/>
            <a:ext cx="914400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365760" y="9144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Church Servants &amp; Clergy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286000" y="9144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للخدام والكهنة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65760" y="66751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D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DDEEDD"/>
                </a:solidFill>
                <a:latin typeface="Calibri"/>
                <a:ea typeface="Calibri"/>
                <a:cs typeface="Calibri"/>
                <a:sym typeface="Calibri"/>
              </a:rPr>
              <a:t>Why Coptic Compass matters for the life and mission of the Church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74320" y="1444752"/>
            <a:ext cx="475488" cy="475488"/>
          </a:xfrm>
          <a:prstGeom prst="ellipse">
            <a:avLst/>
          </a:prstGeom>
          <a:solidFill>
            <a:srgbClr val="008329">
              <a:alpha val="14901"/>
            </a:srgbClr>
          </a:solidFill>
          <a:ln cap="flat" cmpd="sng" w="1905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84048" y="1554480"/>
            <a:ext cx="256032" cy="25603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896112" y="144475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Preserve the Liturgical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896112" y="1719072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Understand the Coptic words in every prayer, hymn and sacrament — not just recite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617720" y="144475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الحفاظ على لغة الليتورجيا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617720" y="171907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فهم الكلمات القبطية في كل صلاة ولحن وسر — لا مجرد ترديدها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74320" y="2340864"/>
            <a:ext cx="475488" cy="475488"/>
          </a:xfrm>
          <a:prstGeom prst="ellipse">
            <a:avLst/>
          </a:prstGeom>
          <a:solidFill>
            <a:srgbClr val="008329">
              <a:alpha val="14901"/>
            </a:srgbClr>
          </a:solidFill>
          <a:ln cap="flat" cmpd="sng" w="1905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84048" y="2450592"/>
            <a:ext cx="256032" cy="25603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896112" y="234086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Teach with Confidence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896112" y="261518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Grammar lessons and dictionary provide clergy with structured, verified 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617720" y="234086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التعليم بثقة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617720" y="261518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دروس النحو والقاموس توفر للكهنة مراجع منظمة وموثقة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274320" y="3236976"/>
            <a:ext cx="475488" cy="475488"/>
          </a:xfrm>
          <a:prstGeom prst="ellipse">
            <a:avLst/>
          </a:prstGeom>
          <a:solidFill>
            <a:srgbClr val="008329">
              <a:alpha val="14901"/>
            </a:srgbClr>
          </a:solidFill>
          <a:ln cap="flat" cmpd="sng" w="1905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84048" y="3346704"/>
            <a:ext cx="256032" cy="25603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896112" y="323697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Reach the Diaspora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896112" y="351129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Digital tools help Coptic communities worldwide maintain their language heritage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617720" y="3236976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الوصول إلى الشتات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617720" y="3511296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الأدوات الرقمية تساعد مجتمعات الشتات في الحفاظ على تراثهم اللغوي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74320" y="4133088"/>
            <a:ext cx="475488" cy="475488"/>
          </a:xfrm>
          <a:prstGeom prst="ellipse">
            <a:avLst/>
          </a:prstGeom>
          <a:solidFill>
            <a:srgbClr val="008329">
              <a:alpha val="14901"/>
            </a:srgbClr>
          </a:solidFill>
          <a:ln cap="flat" cmpd="sng" w="1905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84048" y="4242816"/>
            <a:ext cx="256032" cy="256032"/>
          </a:xfrm>
          <a:prstGeom prst="ellipse">
            <a:avLst/>
          </a:prstGeom>
          <a:solidFill>
            <a:srgbClr val="008329"/>
          </a:solidFill>
          <a:ln cap="flat" cmpd="sng" w="12700">
            <a:solidFill>
              <a:srgbClr val="0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96112" y="413308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Connect Tradition to Scholarship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96112" y="4407408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Access academic resources linked directly to the living tradition of the Church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617720" y="413308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ربط التقليد بالبحث العلمي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617720" y="44074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الوصول إلى الموارد الأكاديمية المرتبطة بالتقليد الحي للكنيسة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1D1D"/>
          </a:solidFill>
          <a:ln cap="flat" cmpd="sng" w="12700">
            <a:solidFill>
              <a:srgbClr val="1E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365760" y="91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Team Behind Coptic Compass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657600" y="91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الفريق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Built by Copts for Copts — with scholarly partnership from Japan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201168" y="1234440"/>
            <a:ext cx="278892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201168" y="1234440"/>
            <a:ext cx="2788920" cy="54864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kyrillos.png"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389888"/>
            <a:ext cx="1234440" cy="123444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292608" y="271576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Kyrillos Wannes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292608" y="30358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كيريلوس وانيس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92608" y="33101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Founder &amp; Developer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292608" y="354787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المؤسس والمطور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92608" y="3858768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Platform architecture, dictionary, grammar &amp; AI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92608" y="431596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بنية المنصة، القاموس، النحو، والذكاء الاصطناعي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172968" y="1234440"/>
            <a:ext cx="278892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172968" y="1234440"/>
            <a:ext cx="2788920" cy="54864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george.jpg" id="267" name="Google Shape;2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0208" y="1389888"/>
            <a:ext cx="1234440" cy="123444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3264408" y="271576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George J. B. Tawadrous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264408" y="30358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جورج يوسف باسيليوس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264408" y="33101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Contributor &amp; Language Expert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264408" y="354787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مساهم وخبير لغوي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264408" y="3858768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Coptic language expertise &amp; scholarly content contribution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264408" y="431596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خبرة لغوية قبطية ومساهمة أكاديمية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144768" y="1234440"/>
            <a:ext cx="278892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144768" y="1234440"/>
            <a:ext cx="2788920" cy="54864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iyagawa.jpg" id="276" name="Google Shape;27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2008" y="1389888"/>
            <a:ext cx="1234440" cy="123444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77" name="Google Shape;277;p10"/>
          <p:cNvSpPr/>
          <p:nvPr/>
        </p:nvSpPr>
        <p:spPr>
          <a:xfrm>
            <a:off x="6236208" y="271576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Dr. So Miyagawa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236208" y="30358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C0832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8329"/>
                </a:solidFill>
                <a:latin typeface="Calibri"/>
                <a:ea typeface="Calibri"/>
                <a:cs typeface="Calibri"/>
                <a:sym typeface="Calibri"/>
              </a:rPr>
              <a:t>د. سو مياجاوا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236208" y="33101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32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8329"/>
                </a:solidFill>
                <a:latin typeface="Calibri"/>
                <a:ea typeface="Calibri"/>
                <a:cs typeface="Calibri"/>
                <a:sym typeface="Calibri"/>
              </a:rPr>
              <a:t>THOTH AI · Univ. of Tsukuba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236208" y="354787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THOTH AI · جامعة تسوكوبا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236208" y="3858768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Computational linguistics &amp; Egyptology — creator of THOTH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236208" y="431596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اللغويات الحاسوبية وعلم المصريات — مبتكر THOTH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D1D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65760" y="182880"/>
            <a:ext cx="4389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Getting Started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200400" y="182880"/>
            <a:ext cx="5577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كيف تبدأ؟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74320" y="987552"/>
            <a:ext cx="493776" cy="493776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274320" y="987552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14400" y="98755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 copticcompass.com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14400" y="12618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 account needed for Dictionary, Grammar, or Publications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617720" y="98755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زُر الموقع copticcompass.com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617720" y="126187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لا تحتاج حساباً للقاموس والنحو والمنشورات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74320" y="1792224"/>
            <a:ext cx="493776" cy="493776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274320" y="179222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14400" y="179222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 a Coptic word or phrase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914400" y="206654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Use the virtual keyboard or type in English to find entries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617720" y="179222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ابحث عن كلمة أو عبارة قبطية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617720" y="206654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استخدم لوحة المفاتيح الافتراضية أو اكتب بالإنجليزية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274320" y="2596896"/>
            <a:ext cx="493776" cy="493776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274320" y="259689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914400" y="259689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the Grammar lessons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14400" y="287121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Structured lessons from beginner level — linked to the dictionary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617720" y="2596896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استكشف دروس النحو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617720" y="2871216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دروس منظمة من المستوى المبتدئ — مرتبطة بالقاموس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74320" y="3401568"/>
            <a:ext cx="493776" cy="493776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274320" y="3401568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914400" y="340156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Shenute AI for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14400" y="367588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Ask Shenute about Coptic grammar, liturgy, or manuscripts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617720" y="340156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جرّب شنودة للأسئلة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617720" y="367588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اسأل شنودة عن النحو والألحان وسياق المخطوطات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74320" y="4206240"/>
            <a:ext cx="493776" cy="493776"/>
          </a:xfrm>
          <a:prstGeom prst="ellipse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274320" y="420624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1D1D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914400" y="420624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a free account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914400" y="448056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Track progress, access instructor features &amp; receive updates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617720" y="420624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أنشئ حساباً مجانياً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617720" y="448056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تتبع تقدمك واستفد من ميزات المدرب والتحديثات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D1D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0" y="4572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20000"/>
              <a:buFont typeface="Georgia"/>
              <a:buNone/>
            </a:pPr>
            <a:r>
              <a:rPr b="0" i="0" lang="en-US" sz="20000" u="none" cap="none" strike="noStrike">
                <a:solidFill>
                  <a:srgbClr val="EBC17D"/>
                </a:solidFill>
                <a:latin typeface="Georgia"/>
                <a:ea typeface="Georgia"/>
                <a:cs typeface="Georgia"/>
                <a:sym typeface="Georgia"/>
              </a:rPr>
              <a:t>Ⲭ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57200" y="1188720"/>
            <a:ext cx="8229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Coptic Compass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EBC17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BC17D"/>
                </a:solidFill>
                <a:latin typeface="Calibri"/>
                <a:ea typeface="Calibri"/>
                <a:cs typeface="Calibri"/>
                <a:sym typeface="Calibri"/>
              </a:rPr>
              <a:t>كوبتيك كومباس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trusted digital home for Coptology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منزل رقمي موثوق لعلوم القبطيات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2834640" y="3456432"/>
            <a:ext cx="3474720" cy="566928"/>
          </a:xfrm>
          <a:prstGeom prst="rect">
            <a:avLst/>
          </a:prstGeom>
          <a:solidFill>
            <a:srgbClr val="C08329"/>
          </a:solidFill>
          <a:ln cap="flat" cmpd="sng" w="12700">
            <a:solidFill>
              <a:srgbClr val="C08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2834640" y="345643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D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D1D"/>
                </a:solidFill>
                <a:latin typeface="Calibri"/>
                <a:ea typeface="Calibri"/>
                <a:cs typeface="Calibri"/>
                <a:sym typeface="Calibri"/>
              </a:rPr>
              <a:t>www.copticcompass.com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Built by Copts for Copts  ·  بُنيت من الأقباط للأقباط  ·  © 2026 Coptic Compass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