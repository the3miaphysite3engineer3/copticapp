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5" name="Google Shape;28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image" Target="../media/image1.jpg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D1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3886200" y="594360"/>
            <a:ext cx="1371600" cy="1371600"/>
          </a:xfrm>
          <a:prstGeom prst="ellipse">
            <a:avLst/>
          </a:prstGeom>
          <a:solidFill>
            <a:srgbClr val="C08329">
              <a:alpha val="18039"/>
            </a:srgbClr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3886200" y="594360"/>
            <a:ext cx="1371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4800"/>
              <a:buFont typeface="Georgia"/>
              <a:buNone/>
            </a:pPr>
            <a:r>
              <a:rPr b="1" i="0" lang="en-US" sz="48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Ⲭ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Georg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Coptic Compass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269748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كوبتيك كومباس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457200" y="341071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A Trusted Digital Coptology Platform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57200" y="3767328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منصة رقمية موثوقة لعلوم اللغة القبطية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Built by Copts for Copts  |  بُنيت من الأقباط للأقباط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274320" y="22860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What is Coptic Compass?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3474720" y="228600"/>
            <a:ext cx="5394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ما هو كوبتيك كومباس؟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274320" y="9144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Coptic Compass is a complete digital home for Coptology — uniting: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274320" y="1554480"/>
            <a:ext cx="384048" cy="384048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274320" y="15544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777240" y="1554480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176479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6,400+ verified entries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3474720" y="1600200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قاموس قبطي قابل للبحث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274320" y="2157984"/>
            <a:ext cx="384048" cy="384048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274320" y="215798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777240" y="2157984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Grammar Lessons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777240" y="23682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Interactive study &amp; exercises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3474720" y="2203704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دروس نحوية تفاعلية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274320" y="2761488"/>
            <a:ext cx="384048" cy="384048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274320" y="276148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77240" y="2761488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Shenute AI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77240" y="29718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AI-powered Coptic assistant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474720" y="2807208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شنودة للذكاء الاصطناعي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274320" y="3364992"/>
            <a:ext cx="384048" cy="384048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274320" y="33649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777240" y="3364992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Publications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777240" y="35753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Books &amp; scholarly resources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3474720" y="3410712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المنشورات الأكاديمية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274320" y="3968496"/>
            <a:ext cx="384048" cy="384048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274320" y="396849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777240" y="3968496"/>
            <a:ext cx="2560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Public APIs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777240" y="41788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For developers &amp; educators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3474720" y="4014216"/>
            <a:ext cx="5349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واجهات برمجية مفتوحة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6675120" y="822960"/>
            <a:ext cx="2194560" cy="3474720"/>
          </a:xfrm>
          <a:prstGeom prst="rect">
            <a:avLst/>
          </a:prstGeom>
          <a:solidFill>
            <a:srgbClr val="1E1D1D"/>
          </a:solidFill>
          <a:ln cap="flat" cmpd="sng" w="254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6675120" y="11887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9600"/>
              <a:buFont typeface="Georgia"/>
              <a:buNone/>
            </a:pPr>
            <a:r>
              <a:rPr b="0" i="0" lang="en-US" sz="96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Ⲭ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6675120" y="2377440"/>
            <a:ext cx="2194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Ⲭⲏⲙⲓ · Ⲭⲣⲓⲥⲧⲟⲥ · Ⲭⲁⲧⲏⲣ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6675120" y="278892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Egypt · Christ · Compass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6675120" y="3090672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مصر · المسيح · البوصلة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www.copticcompass.com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1E1D1D"/>
          </a:solidFill>
          <a:ln cap="flat" cmpd="sng" w="12700">
            <a:solidFill>
              <a:srgbClr val="1E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0" y="1143000"/>
            <a:ext cx="914400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365760" y="91440"/>
            <a:ext cx="4754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Coptic Dictionary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200400" y="9144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القاموس القبطي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BBBBB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BBBBBB"/>
                </a:solidFill>
                <a:latin typeface="Calibri"/>
                <a:ea typeface="Calibri"/>
                <a:cs typeface="Calibri"/>
                <a:sym typeface="Calibri"/>
              </a:rPr>
              <a:t>A lightning-fast digital lexicon for students, clergy &amp; scholars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320040" y="1371600"/>
            <a:ext cx="2560320" cy="1371600"/>
          </a:xfrm>
          <a:prstGeom prst="rect">
            <a:avLst/>
          </a:prstGeom>
          <a:solidFill>
            <a:srgbClr val="1E1D1D"/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320040" y="1417320"/>
            <a:ext cx="25603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3600"/>
              <a:buFont typeface="Georgia"/>
              <a:buNone/>
            </a:pPr>
            <a:r>
              <a:rPr b="1" i="0" lang="en-US" sz="36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6,400+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320040" y="2103120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Verified Entries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320040" y="2377440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إدخالات موثقة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3200400" y="1371600"/>
            <a:ext cx="2560320" cy="1371600"/>
          </a:xfrm>
          <a:prstGeom prst="rect">
            <a:avLst/>
          </a:prstGeom>
          <a:solidFill>
            <a:srgbClr val="1E1D1D"/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3200400" y="1417320"/>
            <a:ext cx="25603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3600"/>
              <a:buFont typeface="Georgia"/>
              <a:buNone/>
            </a:pPr>
            <a:r>
              <a:rPr b="1" i="0" lang="en-US" sz="36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3200400" y="2103120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Dialects Covered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3200400" y="2377440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لهجات مغطاة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080760" y="1371600"/>
            <a:ext cx="2560320" cy="1371600"/>
          </a:xfrm>
          <a:prstGeom prst="rect">
            <a:avLst/>
          </a:prstGeom>
          <a:solidFill>
            <a:srgbClr val="1E1D1D"/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6080760" y="1417320"/>
            <a:ext cx="25603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3600"/>
              <a:buFont typeface="Georgia"/>
              <a:buNone/>
            </a:pPr>
            <a:r>
              <a:rPr b="1" i="0" lang="en-US" sz="36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6080760" y="2103120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Search Languages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6080760" y="2377440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EN · AR · 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320040" y="292608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Key Features  |  المزايا الرئيسية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320040" y="3392424"/>
            <a:ext cx="164592" cy="16459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594360" y="333756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Coptic, English &amp; Greek lookup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4572000" y="333756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بحث بالقبطية والإنجليزية واليونانية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320040" y="3721608"/>
            <a:ext cx="164592" cy="16459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594360" y="3666744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Dialect forms &amp; canonical entry pages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572000" y="3666744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أشكال اللهجات والمداخل المعيارية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320040" y="4050792"/>
            <a:ext cx="164592" cy="16459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594360" y="3995928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Built-in virtual Coptic keyboard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72000" y="3995928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لوحة مفاتيح قبطية افتراضية مدمجة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320040" y="4379976"/>
            <a:ext cx="164592" cy="16459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594360" y="432511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Linked directly to grammar concepts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4572000" y="4325112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مرتبط مباشرةً بالمفاهيم النحوية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20040" y="4709160"/>
            <a:ext cx="164592" cy="16459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594360" y="4654296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Freely accessible — no login required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4572000" y="4654296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متاح مجاناً — لا يلزم تسجيل الدخول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0" y="1143000"/>
            <a:ext cx="914400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365760" y="91440"/>
            <a:ext cx="4754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Coptic Grammar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3200400" y="9144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النحو القبطي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365760" y="667512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FFDD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DDFFDD"/>
                </a:solidFill>
                <a:latin typeface="Calibri"/>
                <a:ea typeface="Calibri"/>
                <a:cs typeface="Calibri"/>
                <a:sym typeface="Calibri"/>
              </a:rPr>
              <a:t>Structured lessons from beginner to advanced — linked to the dictionary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274320" y="1371600"/>
            <a:ext cx="4160520" cy="356616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274320" y="1371600"/>
            <a:ext cx="4160520" cy="530352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6"/>
          <p:cNvSpPr/>
          <p:nvPr/>
        </p:nvSpPr>
        <p:spPr>
          <a:xfrm>
            <a:off x="411480" y="141732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 Language Learners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411480" y="1691640"/>
            <a:ext cx="3886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لمتعلمي اللغة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11480" y="2011680"/>
            <a:ext cx="64008" cy="402336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566928" y="202996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Reading mode with Coptic text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566928" y="226771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قراءة النصوص القبطية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11480" y="2743200"/>
            <a:ext cx="64008" cy="402336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566928" y="276148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Study mode with exercises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566928" y="299923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التمارين والاختبارات التفاعلية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411480" y="3474720"/>
            <a:ext cx="64008" cy="402336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566928" y="349300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Footnotes &amp; concept glossaries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566928" y="373075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الحواشي والمصطلحات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411480" y="4206240"/>
            <a:ext cx="64008" cy="402336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566928" y="422452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Progress tracking dashboard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566928" y="446227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لوحة تتبع التقدم الشخصي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4709160" y="1371600"/>
            <a:ext cx="4160520" cy="3566160"/>
          </a:xfrm>
          <a:prstGeom prst="rect">
            <a:avLst/>
          </a:prstGeom>
          <a:solidFill>
            <a:srgbClr val="FFFFFF"/>
          </a:solidFill>
          <a:ln cap="flat" cmpd="sng" w="254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4709160" y="1371600"/>
            <a:ext cx="4160520" cy="5303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4846320" y="141732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 Church Servants &amp; Clergy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846320" y="1691640"/>
            <a:ext cx="3886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للخدام والكهنة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846320" y="2011680"/>
            <a:ext cx="64008" cy="402336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5001768" y="202996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Liturgical vocabulary in context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5001768" y="226771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المفردات الليتورجية في سياقها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846320" y="2743200"/>
            <a:ext cx="64008" cy="402336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5001768" y="276148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Links to dictionary entries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5001768" y="299923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روابط للقاموس المرجعي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4846320" y="3474720"/>
            <a:ext cx="64008" cy="402336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5001768" y="349300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Grammar behind the prayers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5001768" y="373075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القواعد النحوية وراء الصلوات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4846320" y="4206240"/>
            <a:ext cx="64008" cy="402336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5001768" y="4224528"/>
            <a:ext cx="3611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Instructor review workflows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5001768" y="4462272"/>
            <a:ext cx="3611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مسار مراجعة المدرب للطلاب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D1D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Shenute AI  —  شنودة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A Coptic Study Assistant powered by THOTH AI · RAG · pgvector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365760" y="1078992"/>
            <a:ext cx="8412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مساعد ذكاء اصطناعي لدراسة اللغة القبطية وتراثها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274320" y="1508760"/>
            <a:ext cx="2697480" cy="3200400"/>
          </a:xfrm>
          <a:prstGeom prst="rect">
            <a:avLst/>
          </a:prstGeom>
          <a:solidFill>
            <a:srgbClr val="262626"/>
          </a:solidFill>
          <a:ln cap="flat" cmpd="sng" w="15225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1280160" y="1691640"/>
            <a:ext cx="685800" cy="685800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1280160" y="16916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384048" y="2496312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OCR Image Prompts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384048" y="2907792"/>
            <a:ext cx="24780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تحليل صور المخطوطات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384048" y="3273552"/>
            <a:ext cx="24780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Upload a manuscript image and ask questions about the Coptic text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384048" y="3931920"/>
            <a:ext cx="24780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ارفع صورة مخطوطة واطرح أسئلة حول النص القبطي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3154680" y="1508760"/>
            <a:ext cx="2697480" cy="3200400"/>
          </a:xfrm>
          <a:prstGeom prst="rect">
            <a:avLst/>
          </a:prstGeom>
          <a:solidFill>
            <a:srgbClr val="262626"/>
          </a:solidFill>
          <a:ln cap="flat" cmpd="sng" w="15225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4160520" y="1691640"/>
            <a:ext cx="685800" cy="685800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4160520" y="16916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3264408" y="2496312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Contextual Q&amp;A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3264408" y="2907792"/>
            <a:ext cx="24780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أسئلة وأجوبة سياقية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3264408" y="3273552"/>
            <a:ext cx="24780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Ask about grammar, vocabulary, liturgy, or Coptic heritage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3264408" y="3931920"/>
            <a:ext cx="24780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اسأل عن النحو والمفردات والألحان والتراث القبطي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6035040" y="1508760"/>
            <a:ext cx="2697480" cy="3200400"/>
          </a:xfrm>
          <a:prstGeom prst="rect">
            <a:avLst/>
          </a:prstGeom>
          <a:solidFill>
            <a:srgbClr val="262626"/>
          </a:solidFill>
          <a:ln cap="flat" cmpd="sng" w="15225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7040880" y="1691640"/>
            <a:ext cx="685800" cy="685800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7040880" y="16916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6144768" y="2496312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RAG-backed Search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144768" y="2907792"/>
            <a:ext cx="247802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بحث بالذكاء الاصطناعي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6144768" y="3273552"/>
            <a:ext cx="24780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Answers grounded in verified Coptic lexicons and scholarship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6144768" y="3931920"/>
            <a:ext cx="2478024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إجابات مستندة إلى القواميس والمصادر الأكاديمية الموثقة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274320" y="4773168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Shenute AI is a study assistant — always verify answers with authoritative sources and your clergy  |  شنودة مساعد للدراسة — راجع دائماً المصادر الموثوقة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1E1D1D"/>
          </a:solidFill>
          <a:ln cap="flat" cmpd="sng" w="12700">
            <a:solidFill>
              <a:srgbClr val="1E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8"/>
          <p:cNvSpPr/>
          <p:nvPr/>
        </p:nvSpPr>
        <p:spPr>
          <a:xfrm>
            <a:off x="0" y="1143000"/>
            <a:ext cx="914400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365760" y="9144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Publications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3200400" y="9144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المنشورات الأكاديمية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365760" y="667512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Coptic Compass as publisher · Books, references &amp; scholarly works for the Coptic community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274320" y="1371600"/>
            <a:ext cx="26517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274320" y="1371600"/>
            <a:ext cx="265176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1280160" y="1572768"/>
            <a:ext cx="658368" cy="658368"/>
          </a:xfrm>
          <a:prstGeom prst="ellipse">
            <a:avLst/>
          </a:prstGeom>
          <a:solidFill>
            <a:srgbClr val="C08329">
              <a:alpha val="85098"/>
            </a:srgbClr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1280160" y="1572768"/>
            <a:ext cx="65836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365760" y="2331720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Grammar References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365760" y="272491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المراجع النحوية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384048" y="3072384"/>
            <a:ext cx="2432304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Scholarly grammars and structured language guides for clergy preparing the liturgy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384048" y="3913632"/>
            <a:ext cx="24323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كتب نحو أكاديمية للكهنة المستعدين للليتورجيا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154680" y="1371600"/>
            <a:ext cx="26517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154680" y="1371600"/>
            <a:ext cx="265176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"/>
          <p:cNvSpPr/>
          <p:nvPr/>
        </p:nvSpPr>
        <p:spPr>
          <a:xfrm>
            <a:off x="4160520" y="1572768"/>
            <a:ext cx="658368" cy="658368"/>
          </a:xfrm>
          <a:prstGeom prst="ellipse">
            <a:avLst/>
          </a:prstGeom>
          <a:solidFill>
            <a:srgbClr val="C08329">
              <a:alpha val="85098"/>
            </a:srgbClr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4160520" y="1572768"/>
            <a:ext cx="65836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3246120" y="2331720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Lexical Works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3246120" y="272491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الأعمال المعجمية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3264408" y="3072384"/>
            <a:ext cx="2432304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Dictionaries and vocabulary references for Sahidic, Bohairic &amp; other dialects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3264408" y="3913632"/>
            <a:ext cx="24323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قواميس لهجات الصعيدية والبحيرية وغيرها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6035040" y="1371600"/>
            <a:ext cx="26517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6035040" y="1371600"/>
            <a:ext cx="265176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7040880" y="1572768"/>
            <a:ext cx="658368" cy="658368"/>
          </a:xfrm>
          <a:prstGeom prst="ellipse">
            <a:avLst/>
          </a:prstGeom>
          <a:solidFill>
            <a:srgbClr val="C08329">
              <a:alpha val="85098"/>
            </a:srgbClr>
          </a:solidFill>
          <a:ln cap="flat" cmpd="sng" w="1905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7040880" y="1572768"/>
            <a:ext cx="658368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6126480" y="2331720"/>
            <a:ext cx="2468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Research Materials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6126480" y="272491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المواد البحثية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6144768" y="3072384"/>
            <a:ext cx="2432304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Publications for advanced students and linguists working in Coptology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6144768" y="3913632"/>
            <a:ext cx="24323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منشورات للطلاب المتقدمين والباحثين في علم القبطيات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Browse the full catalog  ·  copticcompass.com/en/publications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9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0" y="1143000"/>
            <a:ext cx="914400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365760" y="9144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For Church Servants &amp; Clergy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2286000" y="91440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للخدام والكهنة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365760" y="667512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DEEDD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DDEEDD"/>
                </a:solidFill>
                <a:latin typeface="Calibri"/>
                <a:ea typeface="Calibri"/>
                <a:cs typeface="Calibri"/>
                <a:sym typeface="Calibri"/>
              </a:rPr>
              <a:t>Why Coptic Compass matters for the life and mission of the Church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274320" y="1444752"/>
            <a:ext cx="475488" cy="475488"/>
          </a:xfrm>
          <a:prstGeom prst="ellipse">
            <a:avLst/>
          </a:prstGeom>
          <a:solidFill>
            <a:srgbClr val="008329">
              <a:alpha val="14901"/>
            </a:srgbClr>
          </a:solidFill>
          <a:ln cap="flat" cmpd="sng" w="1905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384048" y="1554480"/>
            <a:ext cx="256032" cy="25603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896112" y="1444752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Preserve the Liturgical Language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896112" y="1719072"/>
            <a:ext cx="3611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Understand the Coptic words in every prayer, hymn and sacrament — not just recite them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4617720" y="1444752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الحفاظ على لغة الليتورجيا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4617720" y="1719072"/>
            <a:ext cx="4251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فهم الكلمات القبطية في كل صلاة ولحن وسر — لا مجرد ترديدها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274320" y="2340864"/>
            <a:ext cx="475488" cy="475488"/>
          </a:xfrm>
          <a:prstGeom prst="ellipse">
            <a:avLst/>
          </a:prstGeom>
          <a:solidFill>
            <a:srgbClr val="008329">
              <a:alpha val="14901"/>
            </a:srgbClr>
          </a:solidFill>
          <a:ln cap="flat" cmpd="sng" w="1905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384048" y="2450592"/>
            <a:ext cx="256032" cy="25603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896112" y="2340864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Teach with Confidence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896112" y="2615184"/>
            <a:ext cx="3611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Grammar lessons and dictionary provide clergy with structured, verified references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4617720" y="2340864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التعليم بثقة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617720" y="2615184"/>
            <a:ext cx="4251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دروس النحو والقاموس توفر للكهنة مراجع منظمة وموثقة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274320" y="3236976"/>
            <a:ext cx="475488" cy="475488"/>
          </a:xfrm>
          <a:prstGeom prst="ellipse">
            <a:avLst/>
          </a:prstGeom>
          <a:solidFill>
            <a:srgbClr val="008329">
              <a:alpha val="14901"/>
            </a:srgbClr>
          </a:solidFill>
          <a:ln cap="flat" cmpd="sng" w="1905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384048" y="3346704"/>
            <a:ext cx="256032" cy="25603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896112" y="323697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Reach the Diaspora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896112" y="3511296"/>
            <a:ext cx="3611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Digital tools help Coptic communities worldwide maintain their language heritage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4617720" y="3236976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الوصول إلى الشتات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4617720" y="3511296"/>
            <a:ext cx="4251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الأدوات الرقمية تساعد مجتمعات الشتات في الحفاظ على تراثهم اللغوي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274320" y="4133088"/>
            <a:ext cx="475488" cy="475488"/>
          </a:xfrm>
          <a:prstGeom prst="ellipse">
            <a:avLst/>
          </a:prstGeom>
          <a:solidFill>
            <a:srgbClr val="008329">
              <a:alpha val="14901"/>
            </a:srgbClr>
          </a:solidFill>
          <a:ln cap="flat" cmpd="sng" w="1905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384048" y="4242816"/>
            <a:ext cx="256032" cy="256032"/>
          </a:xfrm>
          <a:prstGeom prst="ellipse">
            <a:avLst/>
          </a:prstGeom>
          <a:solidFill>
            <a:srgbClr val="008329"/>
          </a:solidFill>
          <a:ln cap="flat" cmpd="sng" w="12700">
            <a:solidFill>
              <a:srgbClr val="0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96112" y="4133088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Connect Tradition to Scholarship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896112" y="4407408"/>
            <a:ext cx="3611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Access academic resources linked directly to the living tradition of the Church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4617720" y="413308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ربط التقليد بالبحث العلمي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4617720" y="4407408"/>
            <a:ext cx="4251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الوصول إلى الموارد الأكاديمية المرتبطة بالتقليد الحي للكنيسة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E1D1D"/>
          </a:solidFill>
          <a:ln cap="flat" cmpd="sng" w="12700">
            <a:solidFill>
              <a:srgbClr val="1E1D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0" y="1051560"/>
            <a:ext cx="9144000" cy="6400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365760" y="914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The Team Behind Coptic Compass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3657600" y="91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الفريق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365760" y="59436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Built by Copts for Copts — with scholarly partnership from Japan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201168" y="1234440"/>
            <a:ext cx="2788920" cy="3703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0"/>
          <p:cNvSpPr/>
          <p:nvPr/>
        </p:nvSpPr>
        <p:spPr>
          <a:xfrm>
            <a:off x="201168" y="1234440"/>
            <a:ext cx="2788920" cy="54864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yrillos.png" id="258" name="Google Shape;25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408" y="1389888"/>
            <a:ext cx="1234440" cy="123444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9" name="Google Shape;259;p10"/>
          <p:cNvSpPr/>
          <p:nvPr/>
        </p:nvSpPr>
        <p:spPr>
          <a:xfrm>
            <a:off x="292608" y="2715768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Kyrillos Wannes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292608" y="3035808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كيريلوس وانيس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292608" y="3310128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Founder &amp; Developer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292608" y="354787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المؤسس والمطور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292608" y="3858768"/>
            <a:ext cx="26060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Platform architecture, dictionary, grammar &amp; AI integration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292608" y="4315968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بنية المنصة، القاموس، النحو، والذكاء الاصطناعي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3172968" y="1234440"/>
            <a:ext cx="2788920" cy="3703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"/>
          <p:cNvSpPr/>
          <p:nvPr/>
        </p:nvSpPr>
        <p:spPr>
          <a:xfrm>
            <a:off x="3172968" y="1234440"/>
            <a:ext cx="2788920" cy="54864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george.jpg" id="267" name="Google Shape;267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0208" y="1389888"/>
            <a:ext cx="1234440" cy="123444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8" name="Google Shape;268;p10"/>
          <p:cNvSpPr/>
          <p:nvPr/>
        </p:nvSpPr>
        <p:spPr>
          <a:xfrm>
            <a:off x="3264408" y="2715768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George J. B. Tawadrous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3264408" y="3035808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جورج يوسف باسيليوس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0"/>
          <p:cNvSpPr/>
          <p:nvPr/>
        </p:nvSpPr>
        <p:spPr>
          <a:xfrm>
            <a:off x="3264408" y="3310128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Contributor &amp; Language Expert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3264408" y="354787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مساهم وخبير لغوي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3264408" y="3858768"/>
            <a:ext cx="26060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Coptic language expertise &amp; scholarly content contribution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/>
          <p:nvPr/>
        </p:nvSpPr>
        <p:spPr>
          <a:xfrm>
            <a:off x="3264408" y="4315968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خبرة لغوية قبطية ومساهمة أكاديمية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6144768" y="1234440"/>
            <a:ext cx="2788920" cy="37033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DDDD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"/>
          <p:cNvSpPr/>
          <p:nvPr/>
        </p:nvSpPr>
        <p:spPr>
          <a:xfrm>
            <a:off x="6144768" y="1234440"/>
            <a:ext cx="2788920" cy="54864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miyagawa.jpg" id="276" name="Google Shape;27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22008" y="1389888"/>
            <a:ext cx="1234440" cy="123444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77" name="Google Shape;277;p10"/>
          <p:cNvSpPr/>
          <p:nvPr/>
        </p:nvSpPr>
        <p:spPr>
          <a:xfrm>
            <a:off x="6236208" y="2715768"/>
            <a:ext cx="26060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Dr. So Miyagawa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6236208" y="3035808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C0832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08329"/>
                </a:solidFill>
                <a:latin typeface="Calibri"/>
                <a:ea typeface="Calibri"/>
                <a:cs typeface="Calibri"/>
                <a:sym typeface="Calibri"/>
              </a:rPr>
              <a:t>د. سو مياجاوا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6236208" y="3310128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8329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08329"/>
                </a:solidFill>
                <a:latin typeface="Calibri"/>
                <a:ea typeface="Calibri"/>
                <a:cs typeface="Calibri"/>
                <a:sym typeface="Calibri"/>
              </a:rPr>
              <a:t>THOTH AI · Univ. of Tsukuba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6236208" y="354787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THOTH AI · جامعة تسوكوبا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6236208" y="3858768"/>
            <a:ext cx="26060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Computational linguistics &amp; Egyptology — creator of THOTH AI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6236208" y="4315968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اللغويات الحاسوبية وعلم المصريات — مبتكر THOTH AI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D1D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365760" y="182880"/>
            <a:ext cx="43891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Getting Started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3200400" y="182880"/>
            <a:ext cx="5577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كيف تبدأ؟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/>
          <p:nvPr/>
        </p:nvSpPr>
        <p:spPr>
          <a:xfrm>
            <a:off x="274320" y="987552"/>
            <a:ext cx="493776" cy="493776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274320" y="987552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000"/>
              <a:buFont typeface="Georgia"/>
              <a:buNone/>
            </a:pPr>
            <a:r>
              <a:rPr b="1" i="0" lang="en-US" sz="20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914400" y="987552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Visit copticcompass.com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914400" y="1261872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No account needed for Dictionary, Grammar, or Publications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4617720" y="987552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زُر الموقع copticcompass.com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4617720" y="1261872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لا تحتاج حساباً للقاموس والنحو والمنشورات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274320" y="1792224"/>
            <a:ext cx="493776" cy="493776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1"/>
          <p:cNvSpPr/>
          <p:nvPr/>
        </p:nvSpPr>
        <p:spPr>
          <a:xfrm>
            <a:off x="274320" y="1792224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000"/>
              <a:buFont typeface="Georgia"/>
              <a:buNone/>
            </a:pPr>
            <a:r>
              <a:rPr b="1" i="0" lang="en-US" sz="20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914400" y="1792224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Search a Coptic word or phrase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1"/>
          <p:cNvSpPr/>
          <p:nvPr/>
        </p:nvSpPr>
        <p:spPr>
          <a:xfrm>
            <a:off x="914400" y="2066544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Use the virtual keyboard or type in English to find entries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/>
          <p:nvPr/>
        </p:nvSpPr>
        <p:spPr>
          <a:xfrm>
            <a:off x="4617720" y="1792224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ابحث عن كلمة أو عبارة قبطية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4617720" y="2066544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استخدم لوحة المفاتيح الافتراضية أو اكتب بالإنجليزية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274320" y="2596896"/>
            <a:ext cx="493776" cy="493776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274320" y="2596896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000"/>
              <a:buFont typeface="Georgia"/>
              <a:buNone/>
            </a:pPr>
            <a:r>
              <a:rPr b="1" i="0" lang="en-US" sz="20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1"/>
          <p:cNvSpPr/>
          <p:nvPr/>
        </p:nvSpPr>
        <p:spPr>
          <a:xfrm>
            <a:off x="914400" y="25968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Explore the Grammar lessons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914400" y="287121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Structured lessons from beginner level — linked to the dictionary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4617720" y="2596896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استكشف دروس النحو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1"/>
          <p:cNvSpPr/>
          <p:nvPr/>
        </p:nvSpPr>
        <p:spPr>
          <a:xfrm>
            <a:off x="4617720" y="2871216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دروس منظمة من المستوى المبتدئ — مرتبطة بالقاموس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274320" y="3401568"/>
            <a:ext cx="493776" cy="493776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274320" y="3401568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000"/>
              <a:buFont typeface="Georgia"/>
              <a:buNone/>
            </a:pPr>
            <a:r>
              <a:rPr b="1" i="0" lang="en-US" sz="20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914400" y="3401568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Shenute AI for questions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914400" y="3675888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Ask Shenute about Coptic grammar, liturgy, or manuscripts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4617720" y="340156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جرّب شنودة للأسئلة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/>
          <p:nvPr/>
        </p:nvSpPr>
        <p:spPr>
          <a:xfrm>
            <a:off x="4617720" y="3675888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اسأل شنودة عن النحو والألحان وسياق المخطوطات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274320" y="4206240"/>
            <a:ext cx="493776" cy="493776"/>
          </a:xfrm>
          <a:prstGeom prst="ellipse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1"/>
          <p:cNvSpPr/>
          <p:nvPr/>
        </p:nvSpPr>
        <p:spPr>
          <a:xfrm>
            <a:off x="274320" y="4206240"/>
            <a:ext cx="493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2000"/>
              <a:buFont typeface="Georgia"/>
              <a:buNone/>
            </a:pPr>
            <a:r>
              <a:rPr b="1" i="0" lang="en-US" sz="2000" u="none" cap="none" strike="noStrike">
                <a:solidFill>
                  <a:srgbClr val="1E1D1D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914400" y="4206240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Create a free account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914400" y="4480560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Track progress, access instructor features &amp; receive updates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1"/>
          <p:cNvSpPr/>
          <p:nvPr/>
        </p:nvSpPr>
        <p:spPr>
          <a:xfrm>
            <a:off x="4617720" y="4206240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أنشئ حساباً مجانياً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4617720" y="4480560"/>
            <a:ext cx="4251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تتبع تقدمك واستفد من ميزات المدرب والتحديثات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0" y="5065776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D1D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2"/>
          <p:cNvSpPr/>
          <p:nvPr/>
        </p:nvSpPr>
        <p:spPr>
          <a:xfrm>
            <a:off x="0" y="457200"/>
            <a:ext cx="9144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20000"/>
              <a:buFont typeface="Georgia"/>
              <a:buNone/>
            </a:pPr>
            <a:r>
              <a:rPr b="0" i="0" lang="en-US" sz="20000" u="none" cap="none" strike="noStrike">
                <a:solidFill>
                  <a:srgbClr val="EBC17D"/>
                </a:solidFill>
                <a:latin typeface="Georgia"/>
                <a:ea typeface="Georgia"/>
                <a:cs typeface="Georgia"/>
                <a:sym typeface="Georgia"/>
              </a:rPr>
              <a:t>Ⲭ</a:t>
            </a:r>
            <a:endParaRPr b="0" i="0" sz="20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457200" y="1188720"/>
            <a:ext cx="82296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Georg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Coptic Compass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EBC17D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BC17D"/>
                </a:solidFill>
                <a:latin typeface="Calibri"/>
                <a:ea typeface="Calibri"/>
                <a:cs typeface="Calibri"/>
                <a:sym typeface="Calibri"/>
              </a:rPr>
              <a:t>كوبتيك كومباس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457200" y="263347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A trusted digital home for Coptology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1" algn="ctr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منزل رقمي موثوق لعلوم القبطيات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2834640" y="3456432"/>
            <a:ext cx="3474720" cy="566928"/>
          </a:xfrm>
          <a:prstGeom prst="rect">
            <a:avLst/>
          </a:prstGeom>
          <a:solidFill>
            <a:srgbClr val="C08329"/>
          </a:solidFill>
          <a:ln cap="flat" cmpd="sng" w="12700">
            <a:solidFill>
              <a:srgbClr val="C0832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2"/>
          <p:cNvSpPr/>
          <p:nvPr/>
        </p:nvSpPr>
        <p:spPr>
          <a:xfrm>
            <a:off x="2834640" y="3456432"/>
            <a:ext cx="3474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1D1D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E1D1D"/>
                </a:solidFill>
                <a:latin typeface="Calibri"/>
                <a:ea typeface="Calibri"/>
                <a:cs typeface="Calibri"/>
                <a:sym typeface="Calibri"/>
              </a:rPr>
              <a:t>www.copticcompass.com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5555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Built by Copts for Copts  ·  بُنيت من الأقباط للأقباط  ·  © 2026 Coptic Compass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Technical Foundations &amp; Sources | الأسس التقنية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EN: Coptic Compass combines a structured dictionary, grammar engine, and Shenute AI (RAG + vector search) for grounded educational answers.</a:t>
            </a:r>
          </a:p>
          <a:p>
            <a:pPr>
              <a:defRPr sz="1600"/>
            </a:pPr>
            <a:r>
              <a:t>AR: يجمع كوبتيك كومباس بين قاموس منظم ومحرك نحو وشنودة للذكاء الاصطناعي (RAG + بحث متجهي) لتقديم إجابات تعليمية موثوقة.</a:t>
            </a:r>
          </a:p>
          <a:p>
            <a:pPr>
              <a:defRPr sz="1600"/>
            </a:pPr>
            <a:r>
              <a:t>EN: Core evidence sources include verified lexicons, curated grammar references, publications, and manuscript-oriented study materials.</a:t>
            </a:r>
          </a:p>
          <a:p>
            <a:pPr>
              <a:defRPr sz="1600"/>
            </a:pPr>
            <a:r>
              <a:t>AR: تشمل مصادر المعرفة الأساسية معاجم موثقة ومراجع نحوية منقحة ومنشورات أكاديمية ومواد دراسية مرتبطة بالمخطوطات.</a:t>
            </a:r>
          </a:p>
          <a:p>
            <a:pPr>
              <a:defRPr sz="1600"/>
            </a:pPr>
            <a:r>
              <a:t>EN: AI responses are designed to reference authoritative Coptic scholarship and align with Church and academic study standards.</a:t>
            </a:r>
          </a:p>
          <a:p>
            <a:pPr>
              <a:defRPr sz="1600"/>
            </a:pPr>
            <a:r>
              <a:t>AR: صُممت إجابات الذكاء الاصطناعي للاستناد إلى مصادر قبطية معتمدة وبما يتوافق مع المعايير الكنسية والأكاديمية.</a:t>
            </a:r>
          </a:p>
          <a:p>
            <a:pPr>
              <a:defRPr sz="1600"/>
            </a:pPr>
            <a:r>
              <a:t>EN: Repository and transparency: https://github.com/KyroHub/CopticCompass</a:t>
            </a:r>
          </a:p>
          <a:p>
            <a:pPr>
              <a:defRPr sz="1600"/>
            </a:pPr>
            <a:r>
              <a:t>AR: المستودع والشفافية: https://github.com/KyroHub/CopticCompass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Future Prospects &amp; Open Source | الآفاق المستقبلية والمصدر المفتوح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EN: Planned roadmap includes Coptic speech-to-text for liturgical and educational pronunciation workflows.</a:t>
            </a:r>
          </a:p>
          <a:p>
            <a:pPr>
              <a:defRPr sz="1600"/>
            </a:pPr>
            <a:r>
              <a:t>AR: تتضمن الخطة القادمة إضافة تحويل الكلام إلى نص قبطي لدعم التدريب النطقي التعليمي والليتورجي.</a:t>
            </a:r>
          </a:p>
          <a:p>
            <a:pPr>
              <a:defRPr sz="1600"/>
            </a:pPr>
            <a:r>
              <a:t>EN: Hymns AI Tutor: interactive coaching for hymn pronunciation, meaning, and structured practice.</a:t>
            </a:r>
          </a:p>
          <a:p>
            <a:pPr>
              <a:defRPr sz="1600"/>
            </a:pPr>
            <a:r>
              <a:t>AR: مُعلّم الألحان بالذكاء الاصطناعي: تدريب تفاعلي للنطق والمعنى وخطط ممارسة منظمة.</a:t>
            </a:r>
          </a:p>
          <a:p>
            <a:pPr>
              <a:defRPr sz="1600"/>
            </a:pPr>
            <a:r>
              <a:t>EN: Offline local AI mode is planned for privacy-focused use in churches, classrooms, and low-connectivity regions.</a:t>
            </a:r>
          </a:p>
          <a:p>
            <a:pPr>
              <a:defRPr sz="1600"/>
            </a:pPr>
            <a:r>
              <a:t>AR: يجري التخطيط لوضع ذكاء اصطناعي محلي دون اتصال بالإنترنت لخصوصية أعلى في الكنائس والفصول والمناطق ضعيفة الاتصال.</a:t>
            </a:r>
          </a:p>
          <a:p>
            <a:pPr>
              <a:defRPr sz="1600"/>
            </a:pPr>
            <a:r>
              <a:t>EN: Coptic Compass is open source — anyone can contribute code or Coptic educational content.</a:t>
            </a:r>
          </a:p>
          <a:p>
            <a:pPr>
              <a:defRPr sz="1600"/>
            </a:pPr>
            <a:r>
              <a:t>AR: كوبتيك كومباس مشروع مفتوح المصدر — ويمكن لأي شخص المساهمة بالكود أو بالمحتوى التعليمي القبطي.</a:t>
            </a:r>
          </a:p>
          <a:p>
            <a:pPr>
              <a:defRPr sz="1600"/>
            </a:pPr>
            <a:r>
              <a:t>EN/AR: Contribute via GitHub issues and pull requests | ساهم عبر GitHub من خلال البلاغات وطلبات الدمج.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